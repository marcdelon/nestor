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Introduire l'objectif : transformer l'audit en plan de stabilisation concret. Le message clé est que SafeTrip a une base forte, mais nécessite des correctifs ciblés avant la bêta.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déroulé en cinq blocs. Insister sur le fait que la réunion doit déboucher sur des assignations et une date de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promesse SafeTrip : réserver et suivre un voyage interurbain de façon plus fiable. Le parcours cible est volontairement simple : rechercher, réserver, confirmer.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Mettre l'accent sur les chiffres : 51 points, dont 5 critiques. La conclusion n'est pas de ralentir le produit, mais de prioriser les corrections qui débloquent une bêta crédible.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cette slide par impacts, pas par détails de code. Certains points ont déjà évolué dans le code courant et doivent être vérifiés comme risques de régression.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Séparer les actions immédiates des améliorations de maturité. Le fallback JWT et les routes sensibles sont les priorités de sécurité avant toute bêta externe.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design possède déjà une identité forte. Le travail recommandé porte surtout sur la cohérence : tokens, boutons, feedbacks, chargements et validations.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Décrire le parcours comme un scénario utilisateur. Montrer où l'expérience doit être vérifiée : recherche homepage, sélection trajet, siège, paiement et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que la dette principale vient du mélange API, fallback localStorage et configuration locale. La cible est une API source de vérité avec une configuration d'environnement nette.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ce plan comme le minimum pour une démo fiable. Chaque item doit avoir un propriétaire et être vérifié dans un parcours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bêta doit valider l'usage réel, pas seulement l'affichage. Les tests, la persistance et la qualité mobile deviennent les critères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Mettre en avant la trajectoire de professionnalisation : paiement réel, monitoring, auth durcie et exploitation multi-agences.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planning est une proposition de cadrage. Il doit être ajusté selon disponibilité équipe, accès aux credentials Supabase et niveau attendu de QA.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slide prépare les arbitrages. Sans variables d'environnement, données fiables et tests, les mêmes bugs peuvent réapparaître à chaque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la liste des captures à fournir pour renforcer la présentation. Le deck est utilisable maintenant, mais les captures UI réelles amélioreront fortement la preuve visuelle.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par les décisions attendues : valider le périmètre hotfix, nommer les responsables et fixer la prochaine démo.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annexe sert de feuille de route technique. Elle peut être utilisée directement pour créer les tickets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afeTrip_4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02920"/>
            <a:ext cx="2286000" cy="6652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1828800"/>
            <a:ext cx="365760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A2F1D"/>
                </a:solidFill>
                <a:latin typeface="Syne"/>
              </a:rPr>
              <a:t>SafeTrip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694944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A2F1D"/>
                </a:solidFill>
                <a:latin typeface="Syne"/>
              </a:rPr>
              <a:t>Audit &amp; Plan d'amélioration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5303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B22"/>
                </a:solidFill>
                <a:latin typeface="DM Sans"/>
              </a:rPr>
              <a:t>Audit produit, sécurité et mise en 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703320"/>
            <a:ext cx="3840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18096"/>
                </a:solidFill>
                <a:latin typeface="DM Sans"/>
              </a:rPr>
              <a:t>27 mai 2026 · Équipe SafeTrip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0"/>
            <a:ext cx="164592" cy="685800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0"/>
            <a:ext cx="164592" cy="685800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164592" cy="685800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4160520"/>
            <a:ext cx="31546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4160520"/>
            <a:ext cx="73152" cy="10789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325112"/>
            <a:ext cx="2743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Message clé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690872"/>
            <a:ext cx="274320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Base produit prometteuse, mais stabilisation sécurité, configuration et UX nécessaire avant bêta.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01/17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Cadrer rapidement les priorités pour passer de l'audit à l'exécution.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01952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828800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2F1D"/>
                </a:solidFill>
                <a:latin typeface="DM Sans"/>
              </a:rPr>
              <a:t>Contexte produit et stack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468880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395728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2F1D"/>
                </a:solidFill>
                <a:latin typeface="DM Sans"/>
              </a:rPr>
              <a:t>Résumé exécutif de l'audit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035808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62656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2F1D"/>
                </a:solidFill>
                <a:latin typeface="DM Sans"/>
              </a:rPr>
              <a:t>Risques critiques à corriger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602736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529584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2F1D"/>
                </a:solidFill>
                <a:latin typeface="DM Sans"/>
              </a:rPr>
              <a:t>Plan d'amélioration par horizon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69664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096512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00" b="0">
                <a:solidFill>
                  <a:srgbClr val="0A2F1D"/>
                </a:solidFill>
                <a:latin typeface="DM Sans"/>
              </a:rPr>
              <a:t>Décisions et prochaines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828800"/>
            <a:ext cx="35661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828800"/>
            <a:ext cx="73152" cy="228600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993392"/>
            <a:ext cx="31546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Objectif réunion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359152"/>
            <a:ext cx="3154679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Valider le périmètre hotfix, assigner les responsables et fixer une date de démo bêta.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02/17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Contexte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Mission, stack et parcours critique à sécuriser.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291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73152" cy="141732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10512"/>
            <a:ext cx="2880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288036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Simplifier la réservation de voyages interurbains et la traçabilité des bagages au Cameroun.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73152" cy="141732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10512"/>
            <a:ext cx="2514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76272"/>
            <a:ext cx="25146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Frontend Next.js 16 / React 19
Backend Express TypeScript
Base Supabase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6459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645920"/>
            <a:ext cx="73152" cy="141732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810512"/>
            <a:ext cx="2514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Parcours cible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176272"/>
            <a:ext cx="251460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Rechercher → Réserver → Confirmer
Le flow doit être fiable de bout en bout.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160520"/>
            <a:ext cx="2331720" cy="621792"/>
          </a:xfrm>
          <a:prstGeom prst="roundRect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325112"/>
            <a:ext cx="2331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DM Sans"/>
              </a:rPr>
              <a:t>Rechercher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261104"/>
            <a:ext cx="320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73C"/>
                </a:solidFill>
                <a:latin typeface="Syne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4160520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4325112"/>
            <a:ext cx="2331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2F1D"/>
                </a:solidFill>
                <a:latin typeface="DM Sans"/>
              </a:rPr>
              <a:t>Réserver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4261104"/>
            <a:ext cx="320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0673C"/>
                </a:solidFill>
                <a:latin typeface="Syne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160520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4325112"/>
            <a:ext cx="23317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A2F1D"/>
                </a:solidFill>
                <a:latin typeface="DM Sans"/>
              </a:rPr>
              <a:t>Confirmer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03/17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Résumé exécutif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L'audit identifie une base exploitable, avec des risques à corriger avant bêta.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691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A2F1D"/>
                </a:solidFill>
                <a:latin typeface="Syne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432304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718096"/>
                </a:solidFill>
                <a:latin typeface="DM Sans"/>
              </a:rPr>
              <a:t>points à traiter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7373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1691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E1126"/>
                </a:solidFill>
                <a:latin typeface="Syne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432304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718096"/>
                </a:solidFill>
                <a:latin typeface="DM Sans"/>
              </a:rPr>
              <a:t>bugs critiques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7373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1874519"/>
            <a:ext cx="1691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0673C"/>
                </a:solidFill>
                <a:latin typeface="Syne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1" y="2432304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718096"/>
                </a:solidFill>
                <a:latin typeface="DM Sans"/>
              </a:rPr>
              <a:t>fonctionnalités manquantes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73736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874519"/>
            <a:ext cx="1691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CD116"/>
                </a:solidFill>
                <a:latin typeface="Syn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2432304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718096"/>
                </a:solidFill>
                <a:latin typeface="DM Sans"/>
              </a:rPr>
              <a:t>risques sécurité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794760"/>
            <a:ext cx="9784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794760"/>
            <a:ext cx="73152" cy="123444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959352"/>
            <a:ext cx="9372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25112"/>
            <a:ext cx="9372600" cy="594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SafeTrip est suffisamment avancé pour une démonstration produit, mais les risques sécurité, configuration d'environnement et validation UX doivent être traités avant une bêta externe.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04/17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Top 5 problèmes critiques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Lecture par impact produit et risque de démonstration.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2834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73152" cy="621792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30552"/>
            <a:ext cx="2423160" cy="-18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Collision / divergence cache, tickets et colis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764792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2F1D"/>
                </a:solidFill>
                <a:latin typeface="DM Sans"/>
              </a:rPr>
              <a:t>Données incohérentes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86584"/>
            <a:ext cx="2834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386584"/>
            <a:ext cx="73152" cy="621792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551176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PDF colis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16936"/>
            <a:ext cx="2423160" cy="-18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Interpolation à vérifier dans l'étiquette bagage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551176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2F1D"/>
                </a:solidFill>
                <a:latin typeface="DM Sans"/>
              </a:rPr>
              <a:t>Document inutilisable si régression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172968"/>
            <a:ext cx="2834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172968"/>
            <a:ext cx="73152" cy="621792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337560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Routes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03320"/>
            <a:ext cx="2423160" cy="-18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Protection JWT incomplète sur routes sensibles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337560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2F1D"/>
                </a:solidFill>
                <a:latin typeface="DM Sans"/>
              </a:rPr>
              <a:t>Données exposées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959352"/>
            <a:ext cx="2834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959352"/>
            <a:ext cx="73152" cy="621792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123944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Recherche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489704"/>
            <a:ext cx="2423160" cy="-18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Paramètres homepage non transmis à la réservation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4123944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2F1D"/>
                </a:solidFill>
                <a:latin typeface="DM Sans"/>
              </a:rPr>
              <a:t>Parcours interrompu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745736"/>
            <a:ext cx="2834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745736"/>
            <a:ext cx="73152" cy="621792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910328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Paiement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276088"/>
            <a:ext cx="2423160" cy="-182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Champs carte MM/AA et CVV non contrôlés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4910328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A2F1D"/>
                </a:solidFill>
                <a:latin typeface="DM Sans"/>
              </a:rPr>
              <a:t>Validation faible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715000"/>
            <a:ext cx="8412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DM Sans"/>
              </a:rPr>
              <a:t>Note : vérifier les divergences entre le rapport initial et le code actuel avant création des tickets.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05/17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2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Sécurité &amp; risques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Actions immédiates recommandées avant exposition bêta.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719072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45920"/>
            <a:ext cx="56509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Rendre JWT_SECRET obligatoire : aucun fallback en production.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94560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21408"/>
            <a:ext cx="56509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Appliquer requireAuth / requireRole sur les routes agence, client et admin.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670048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596896"/>
            <a:ext cx="56509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Restreindre CORS aux domaines autorisés.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45536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072384"/>
            <a:ext cx="56509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Réduire les informations exposées par /health.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21024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47872"/>
            <a:ext cx="56509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Supprimer les accès de simulation admin hors environnement local.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600200"/>
            <a:ext cx="34290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600200"/>
            <a:ext cx="73152" cy="269748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764792"/>
            <a:ext cx="3017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Fichiers ciblés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130552"/>
            <a:ext cx="3017520" cy="2057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backend/src/controllers/authController.ts
backend/src/middleware/authMiddleware.ts
backend/src/index.ts
backend/src/routes/*Routes.ts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06/17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UX/UI — points à améliorer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Conserver l'identité, systématiser l'expérience.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00200"/>
            <a:ext cx="73152" cy="132588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64792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Design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30552"/>
            <a:ext cx="25603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Centraliser couleurs, spacing, radius, ombres et typographies dans une base commune.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6002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600200"/>
            <a:ext cx="73152" cy="132588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64792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Boutons &amp; 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30552"/>
            <a:ext cx="25603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Unifier états : normal, hover, focus, disabled, loading.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6002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600200"/>
            <a:ext cx="73152" cy="132588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764792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Formulaires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130552"/>
            <a:ext cx="25603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Validations inline, focus rings, messages d'erreur lisibles.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6576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68880" y="3657600"/>
            <a:ext cx="73152" cy="132588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7480" y="3822191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Loading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187952"/>
            <a:ext cx="25603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Skeletons et états vides conçus pour éviter les ruptures de confiance.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3657600"/>
            <a:ext cx="2971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0" y="3657600"/>
            <a:ext cx="73152" cy="132588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3822191"/>
            <a:ext cx="25603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Mobile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187952"/>
            <a:ext cx="256032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Réduire la charge cognitive et optimiser dashboards et recherche.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07/17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Démo rapide — parcours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Zones à vérifier pendant la présentation.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691640"/>
            <a:ext cx="594360" cy="594360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847088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A2F1D"/>
                </a:solidFill>
                <a:latin typeface="Syne"/>
              </a:rPr>
              <a:t>Homepage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07792"/>
            <a:ext cx="1783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718096"/>
                </a:solidFill>
                <a:latin typeface="DM Sans"/>
              </a:rPr>
              <a:t>Hero + recherche : départ, destination, date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169164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847088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2F1D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514600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A2F1D"/>
                </a:solidFill>
                <a:latin typeface="Syne"/>
              </a:rPr>
              <a:t>Résultats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907792"/>
            <a:ext cx="1783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718096"/>
                </a:solidFill>
                <a:latin typeface="DM Sans"/>
              </a:rPr>
              <a:t>Cartes trajets, filtres, CTA Réserver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169164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1847088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2F1D"/>
                </a:solidFill>
                <a:latin typeface="DM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14600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A2F1D"/>
                </a:solidFill>
                <a:latin typeface="Syne"/>
              </a:rPr>
              <a:t>Siège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907792"/>
            <a:ext cx="1783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718096"/>
                </a:solidFill>
                <a:latin typeface="DM Sans"/>
              </a:rPr>
              <a:t>Plan, disponibilité et sélection</a:t>
            </a:r>
          </a:p>
        </p:txBody>
      </p:sp>
      <p:sp>
        <p:nvSpPr>
          <p:cNvPr id="20" name="Oval 19"/>
          <p:cNvSpPr/>
          <p:nvPr/>
        </p:nvSpPr>
        <p:spPr>
          <a:xfrm>
            <a:off x="7955280" y="169164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1847088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2F1D"/>
                </a:solidFill>
                <a:latin typeface="DM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514600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A2F1D"/>
                </a:solidFill>
                <a:latin typeface="Syne"/>
              </a:rPr>
              <a:t>Paiement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907792"/>
            <a:ext cx="1783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718096"/>
                </a:solidFill>
                <a:latin typeface="DM Sans"/>
              </a:rPr>
              <a:t>OM / MoMo / Carte, validation champs</a:t>
            </a:r>
          </a:p>
        </p:txBody>
      </p:sp>
      <p:sp>
        <p:nvSpPr>
          <p:cNvPr id="24" name="Oval 23"/>
          <p:cNvSpPr/>
          <p:nvPr/>
        </p:nvSpPr>
        <p:spPr>
          <a:xfrm>
            <a:off x="10195560" y="1691640"/>
            <a:ext cx="594360" cy="594360"/>
          </a:xfrm>
          <a:prstGeom prst="ellipse">
            <a:avLst/>
          </a:prstGeom>
          <a:solidFill>
            <a:srgbClr val="FFFFFF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95560" y="1847088"/>
            <a:ext cx="5943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A2F1D"/>
                </a:solidFill>
                <a:latin typeface="DM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514600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0A2F1D"/>
                </a:solidFill>
                <a:latin typeface="Syne"/>
              </a:rPr>
              <a:t>Confirmation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907792"/>
            <a:ext cx="178308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0" b="0">
                <a:solidFill>
                  <a:srgbClr val="718096"/>
                </a:solidFill>
                <a:latin typeface="DM Sans"/>
              </a:rPr>
              <a:t>Billet, historique, colis,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4572000"/>
            <a:ext cx="9326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88720" y="4572000"/>
            <a:ext cx="73152" cy="77724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4736592"/>
            <a:ext cx="8915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Fichiers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102352"/>
            <a:ext cx="89154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frontend/src/app/page.tsx · frontend/src/app/reserver/page.tsx · frontend/src/app/reserver/confirmer/page.tsx · frontend/src/app/client/dashboard/page.tsx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08/17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2 min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Architecture &amp; dépendances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Cible : API source de vérité et configuration externalisée.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73152" cy="96012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67712"/>
            <a:ext cx="19202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Next.js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9202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UI / parcours réservation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1031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9039" y="2103120"/>
            <a:ext cx="73152" cy="96012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2267712"/>
            <a:ext cx="19202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Express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633472"/>
            <a:ext cx="19202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Auth, agences, clients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2103120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2103120"/>
            <a:ext cx="73152" cy="96012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267712"/>
            <a:ext cx="19202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33472"/>
            <a:ext cx="19202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Données persistantes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3977639"/>
            <a:ext cx="2331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49039" y="3977639"/>
            <a:ext cx="73152" cy="96012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4142231"/>
            <a:ext cx="192023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LocalStorage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4507992"/>
            <a:ext cx="1920239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Fallback temporaire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2423160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2F1D"/>
                </a:solidFill>
                <a:latin typeface="Syne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423160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A2F1D"/>
                </a:solidFill>
                <a:latin typeface="Syne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456432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718096"/>
                </a:solidFill>
                <a:latin typeface="DM Sans"/>
              </a:rPr>
              <a:t>Fallback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205740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057400"/>
            <a:ext cx="73152" cy="201168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221992"/>
            <a:ext cx="16002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À corriger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587752"/>
            <a:ext cx="1600200" cy="137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Centraliser API_BASE
Supprimer fallback prod
Créer .env examples
Versionner l'API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09/17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Plan court terme — hotfix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Objectif : démo stable et parcours critique fiable.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73352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00200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A2F1D"/>
                </a:solidFill>
                <a:latin typeface="DM Sans"/>
              </a:rPr>
              <a:t>Supprimer fallback JWT et configurer les secrets.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12264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39112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A2F1D"/>
                </a:solidFill>
                <a:latin typeface="DM Sans"/>
              </a:rPr>
              <a:t>Protéger les routes sensibles avec JWT + rôles.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551176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78024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A2F1D"/>
                </a:solidFill>
                <a:latin typeface="DM Sans"/>
              </a:rPr>
              <a:t>Contrôler les champs paiement carte et mobile money.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990088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16936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A2F1D"/>
                </a:solidFill>
                <a:latin typeface="DM Sans"/>
              </a:rPr>
              <a:t>Vérifier PDF colis et nom passager dynamique.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429000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355848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A2F1D"/>
                </a:solidFill>
                <a:latin typeface="DM Sans"/>
              </a:rPr>
              <a:t>Harmoniser localStorage et API.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867912"/>
            <a:ext cx="91440" cy="91440"/>
          </a:xfrm>
          <a:prstGeom prst="ellipse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794760"/>
            <a:ext cx="6016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0A2F1D"/>
                </a:solidFill>
                <a:latin typeface="DM Sans"/>
              </a:rPr>
              <a:t>Créer .env.local.example et backend/.env.example.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82880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19" y="1965960"/>
            <a:ext cx="1691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E1126"/>
                </a:solidFill>
                <a:latin typeface="Syne"/>
              </a:rPr>
              <a:t>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2523744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718096"/>
                </a:solidFill>
                <a:latin typeface="DM Sans"/>
              </a:rPr>
              <a:t>semaine hotfix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24612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19" y="3383279"/>
            <a:ext cx="1691640" cy="411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A2F1D"/>
                </a:solidFill>
                <a:latin typeface="Syn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3941063"/>
            <a:ext cx="173736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718096"/>
                </a:solidFill>
                <a:latin typeface="DM Sans"/>
              </a:rPr>
              <a:t>patchs prioritaires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10/17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Plan moyen terme — bêta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Objectif : valider l'usage réel sans casser le parcours.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76479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1691640"/>
            <a:ext cx="619963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0A2F1D"/>
                </a:solidFill>
                <a:latin typeface="DM Sans"/>
              </a:rPr>
              <a:t>Tests E2E du parcours Réserver → Confirmer.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26771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194560"/>
            <a:ext cx="619963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0A2F1D"/>
                </a:solidFill>
                <a:latin typeface="DM Sans"/>
              </a:rPr>
              <a:t>API comme source de vérité pour tickets et colis.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77063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697480"/>
            <a:ext cx="619963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0A2F1D"/>
                </a:solidFill>
                <a:latin typeface="DM Sans"/>
              </a:rPr>
              <a:t>Dashboard client fiable avec données synchronisées.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27355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200400"/>
            <a:ext cx="619963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0A2F1D"/>
                </a:solidFill>
                <a:latin typeface="DM Sans"/>
              </a:rPr>
              <a:t>Design system appliqué aux composants critiques.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77647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3703320"/>
            <a:ext cx="619963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20" b="0">
                <a:solidFill>
                  <a:srgbClr val="0A2F1D"/>
                </a:solidFill>
                <a:latin typeface="DM Sans"/>
              </a:rPr>
              <a:t>Observabilité minimale : logs, erreurs et santé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196596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965960"/>
            <a:ext cx="73152" cy="169164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2130552"/>
            <a:ext cx="2651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Critères de sortie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496312"/>
            <a:ext cx="2651760" cy="1051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Réservation complète testée
Aucun secret en fallback
Données persistées
Démo mobile validée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11/17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Roadmap long terme —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Industrialiser le produit et préparer l'exploitation.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73152" cy="128016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56232"/>
            <a:ext cx="2331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Paiement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21992"/>
            <a:ext cx="2331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Passerelle CinetPay / PayDunya, rapprochement transactionnel.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69164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1691640"/>
            <a:ext cx="73152" cy="128016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1856232"/>
            <a:ext cx="2331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Traçabilité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221992"/>
            <a:ext cx="2331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QR codes scannables, scanner agent, statuts colis fiables.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691640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1691640"/>
            <a:ext cx="73152" cy="128016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1856232"/>
            <a:ext cx="2331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221992"/>
            <a:ext cx="2331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CI/CD, monitoring, sauvegardes, alerting et durcissement auth.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749039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3749039"/>
            <a:ext cx="73152" cy="128016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3913631"/>
            <a:ext cx="2331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Multi-agences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279392"/>
            <a:ext cx="2331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Gestion opérations, modification trajets, suppression bus.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3749039"/>
            <a:ext cx="27432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57800" y="3749039"/>
            <a:ext cx="73152" cy="128016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13631"/>
            <a:ext cx="2331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79392"/>
            <a:ext cx="233172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Notifications, email, annulation, remboursement et profil sync.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12/17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Estimation effort &amp;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Proposition de séquencement pour 5 semaines.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286000"/>
            <a:ext cx="2148840" cy="1005840"/>
          </a:xfrm>
          <a:prstGeom prst="round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248716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yne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90779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Hotfix critiques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148840" cy="1005840"/>
          </a:xfrm>
          <a:prstGeom prst="round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48716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yne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0779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Bêta interne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86000"/>
            <a:ext cx="2148840" cy="1005840"/>
          </a:xfrm>
          <a:prstGeom prst="round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8716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yne"/>
              </a:rPr>
              <a:t>S3-S4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0779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Bêta externe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286000"/>
            <a:ext cx="2148840" cy="1005840"/>
          </a:xfrm>
          <a:prstGeom prst="roundRect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487168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yne"/>
              </a:rPr>
              <a:t>S5+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07792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DM Sans"/>
              </a:rPr>
              <a:t>Durcissement prod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343400"/>
            <a:ext cx="95554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4343400"/>
            <a:ext cx="73152" cy="77724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507992"/>
            <a:ext cx="91440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Hypothèse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73752"/>
            <a:ext cx="914400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Planning à ajuster selon disponibilité équipe, accès Supabase, niveau de test attendu et validation métier.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13/17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Dépendances &amp; risques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Points qui peuvent ralentir ou fragiliser la bêta.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764792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91640"/>
            <a:ext cx="63825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Credentials Supabase et variables d'environnement non stabilisés.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76856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203704"/>
            <a:ext cx="63825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Données locales et API potentiellement divergentes.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788920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715768"/>
            <a:ext cx="63825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Absence de tests automatisés sur le flow réservation.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300984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227832"/>
            <a:ext cx="63825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Routes sensibles encore à protéger et valider.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813048"/>
            <a:ext cx="91440" cy="91440"/>
          </a:xfrm>
          <a:prstGeom prst="ellipse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638251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0A2F1D"/>
                </a:solidFill>
                <a:latin typeface="DM Sans"/>
              </a:rPr>
              <a:t>Risque de régression UI sans design system partagé.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828800"/>
            <a:ext cx="2880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828800"/>
            <a:ext cx="73152" cy="214884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993392"/>
            <a:ext cx="24688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Réduction du risque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359152"/>
            <a:ext cx="2468879" cy="1508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Créer tickets atomiques
Ajouter smoke tests
Mettre une checklist PR
Valider en démo quotidienne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14/17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Captures / assets requis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Images à ajouter pour renforcer la preuve visuelle.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7335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00200"/>
            <a:ext cx="70225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0A2F1D"/>
                </a:solidFill>
                <a:latin typeface="DM Sans"/>
              </a:rPr>
              <a:t>01_home_hero.png — hero + capsule recherche.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08483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11680"/>
            <a:ext cx="70225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0A2F1D"/>
                </a:solidFill>
                <a:latin typeface="DM Sans"/>
              </a:rPr>
              <a:t>02_reserver_list.png — trajets, filtres, bouton Réserver.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423160"/>
            <a:ext cx="70225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0A2F1D"/>
                </a:solidFill>
                <a:latin typeface="DM Sans"/>
              </a:rPr>
              <a:t>03_confirmer_seats.png — plan des sièges.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90779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834640"/>
            <a:ext cx="70225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0A2F1D"/>
                </a:solidFill>
                <a:latin typeface="DM Sans"/>
              </a:rPr>
              <a:t>04_payment.png — paiement OM / MoMo / carte.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31927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246120"/>
            <a:ext cx="70225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0A2F1D"/>
                </a:solidFill>
                <a:latin typeface="DM Sans"/>
              </a:rPr>
              <a:t>05_pdf_label_check.png — étiquette colis PDF.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657600"/>
            <a:ext cx="70225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80" b="0">
                <a:solidFill>
                  <a:srgbClr val="0A2F1D"/>
                </a:solidFill>
                <a:latin typeface="DM Sans"/>
              </a:rPr>
              <a:t>07_backend_jwt.png et 09_api_url_occurrences.png — extraits sécurité/config.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874519"/>
            <a:ext cx="2514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874519"/>
            <a:ext cx="73152" cy="228600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039112"/>
            <a:ext cx="21031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Dossier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404872"/>
            <a:ext cx="210312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outputs/screenshots/
PNG 1920×1080 pour UI
PNG 1200×800 pour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15/17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45 sec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Appel à l'action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Décisions attendues aujourd'hui.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3736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737360"/>
            <a:ext cx="73152" cy="1417320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Valider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2"/>
            <a:ext cx="242316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Périmètre des 6 patchs critiques et critères de sortie.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73736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7639" y="1737360"/>
            <a:ext cx="73152" cy="1417320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901952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Assigner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267712"/>
            <a:ext cx="242316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Responsables frontend, backend et QA.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73736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86600" y="1737360"/>
            <a:ext cx="73152" cy="1417320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901952"/>
            <a:ext cx="24231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A2F1D"/>
                </a:solidFill>
                <a:latin typeface="Syne"/>
              </a:rPr>
              <a:t>Planifier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67712"/>
            <a:ext cx="242316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0">
                <a:solidFill>
                  <a:srgbClr val="1C2B22"/>
                </a:solidFill>
                <a:latin typeface="DM Sans"/>
              </a:rPr>
              <a:t>Date de démo bêta et revue technique.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34840"/>
            <a:ext cx="658368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A2F1D"/>
                </a:solidFill>
                <a:latin typeface="Syne"/>
              </a:rPr>
              <a:t>Prochaine démo cible : à confirmer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983480"/>
            <a:ext cx="68580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8096"/>
                </a:solidFill>
                <a:latin typeface="DM Sans"/>
              </a:rPr>
              <a:t>Décision recommandée : lancer le sprint hotfix avant toute bêta externe.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16/17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 min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11112"/>
            <a:ext cx="12191695" cy="82296"/>
          </a:xfrm>
          <a:prstGeom prst="rect">
            <a:avLst/>
          </a:prstGeom>
          <a:solidFill>
            <a:srgbClr val="00673C"/>
          </a:solidFill>
          <a:ln>
            <a:solidFill>
              <a:srgbClr val="006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82296"/>
          </a:xfrm>
          <a:prstGeom prst="rect">
            <a:avLst/>
          </a:prstGeom>
          <a:solidFill>
            <a:srgbClr val="CE1126"/>
          </a:solidFill>
          <a:ln>
            <a:solidFill>
              <a:srgbClr val="CE1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20624"/>
            <a:ext cx="804672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A2F1D"/>
                </a:solidFill>
                <a:latin typeface="Syne"/>
              </a:rPr>
              <a:t>Annexe — Patchs critiques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05256"/>
            <a:ext cx="7955279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  <a:latin typeface="DM Sans"/>
              </a:rPr>
              <a:t>6 corrections directement transformables en tickets.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50292"/>
          </a:xfrm>
          <a:prstGeom prst="rect">
            <a:avLst/>
          </a:prstGeom>
          <a:solidFill>
            <a:srgbClr val="FCD116"/>
          </a:solidFill>
          <a:ln>
            <a:solidFill>
              <a:srgbClr val="FCD1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63624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6304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2F1D"/>
                </a:solidFill>
                <a:latin typeface="Syne"/>
              </a:rPr>
              <a:t>localStorage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463040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C2B22"/>
                </a:solidFill>
                <a:latin typeface="DM Sans"/>
              </a:rPr>
              <a:t>Harmoniser cache trajets, historique billets et colis.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463040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18096"/>
                </a:solidFill>
                <a:latin typeface="DM Sans"/>
              </a:rPr>
              <a:t>reserver/page.tsx · confirmer/page.tsx · client/dashboard/page.tsx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21992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167128"/>
            <a:ext cx="384048" cy="384048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249424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4884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2F1D"/>
                </a:solidFill>
                <a:latin typeface="Syne"/>
              </a:rPr>
              <a:t>PDF colis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148840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C2B22"/>
                </a:solidFill>
                <a:latin typeface="DM Sans"/>
              </a:rPr>
              <a:t>Vérifier les interpolations et retirer tout texte hardcodé.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148840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18096"/>
                </a:solidFill>
                <a:latin typeface="DM Sans"/>
              </a:rPr>
              <a:t>client/dashboard/page.tsx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907792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2852928"/>
            <a:ext cx="384048" cy="384048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83464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2F1D"/>
                </a:solidFill>
                <a:latin typeface="Syne"/>
              </a:rPr>
              <a:t>JWT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2834640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C2B22"/>
                </a:solidFill>
                <a:latin typeface="DM Sans"/>
              </a:rPr>
              <a:t>Supprimer fallback secret et protéger routes sensibles.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834640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18096"/>
                </a:solidFill>
                <a:latin typeface="DM Sans"/>
              </a:rPr>
              <a:t>authController.ts · authMiddleware.ts · routes/*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93592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" y="3538728"/>
            <a:ext cx="384048" cy="384048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621024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52044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2F1D"/>
                </a:solidFill>
                <a:latin typeface="Syne"/>
              </a:rPr>
              <a:t>Paiement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520440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C2B22"/>
                </a:solidFill>
                <a:latin typeface="DM Sans"/>
              </a:rPr>
              <a:t>Contrôler MM/AA, CVV, carte, téléphone et référence.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520440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18096"/>
                </a:solidFill>
                <a:latin typeface="DM Sans"/>
              </a:rPr>
              <a:t>reserver/confirmer/page.tsx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713232" y="4224527"/>
            <a:ext cx="384048" cy="384048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306824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20624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2F1D"/>
                </a:solidFill>
                <a:latin typeface="Syne"/>
              </a:rPr>
              <a:t>API URL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4206240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C2B22"/>
                </a:solidFill>
                <a:latin typeface="DM Sans"/>
              </a:rPr>
              <a:t>Centraliser NEXT_PUBLIC_API_URL, retirer fallback prod.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206240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18096"/>
                </a:solidFill>
                <a:latin typeface="DM Sans"/>
              </a:rPr>
              <a:t>frontend/src/app/**/*.tsx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965192"/>
            <a:ext cx="29260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39" name="Oval 38"/>
          <p:cNvSpPr/>
          <p:nvPr/>
        </p:nvSpPr>
        <p:spPr>
          <a:xfrm>
            <a:off x="713232" y="4910327"/>
            <a:ext cx="384048" cy="384048"/>
          </a:xfrm>
          <a:prstGeom prst="ellipse">
            <a:avLst/>
          </a:prstGeom>
          <a:solidFill>
            <a:srgbClr val="0A2F1D"/>
          </a:solidFill>
          <a:ln>
            <a:solidFill>
              <a:srgbClr val="0A2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992624"/>
            <a:ext cx="38404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DM Sans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892040"/>
            <a:ext cx="13258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A2F1D"/>
                </a:solidFill>
                <a:latin typeface="Syne"/>
              </a:rPr>
              <a:t>Env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892040"/>
            <a:ext cx="402336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C2B22"/>
                </a:solidFill>
                <a:latin typeface="DM Sans"/>
              </a:rPr>
              <a:t>Ajouter exemples d'environnement frontend et backend.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892040"/>
            <a:ext cx="4297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718096"/>
                </a:solidFill>
                <a:latin typeface="DM Sans"/>
              </a:rPr>
              <a:t>frontend/.env.local.example · backend/.env.example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17/17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647395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50" b="0">
                <a:solidFill>
                  <a:srgbClr val="718096"/>
                </a:solidFill>
                <a:latin typeface="DM Sans"/>
              </a:rPr>
              <a:t>référence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